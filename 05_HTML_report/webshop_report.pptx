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61" r:id="rId7"/>
    <p:sldId id="258" r:id="rId8"/>
    <p:sldId id="259" r:id="rId9"/>
    <p:sldId id="260" r:id="rId10"/>
    <p:sldId id="262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tila Mézes" userId="84685aee-113f-4e3f-9346-dc68217d032c" providerId="ADAL" clId="{0C2A48DF-5FF8-5FB3-B950-59AB4DE070A2}"/>
    <pc:docChg chg="modSld sldOrd">
      <pc:chgData name="Attila Mézes" userId="84685aee-113f-4e3f-9346-dc68217d032c" providerId="ADAL" clId="{0C2A48DF-5FF8-5FB3-B950-59AB4DE070A2}" dt="2026-06-13T23:24:54.408" v="2" actId="1076"/>
      <pc:docMkLst>
        <pc:docMk/>
      </pc:docMkLst>
      <pc:sldChg chg="modSp mod">
        <pc:chgData name="Attila Mézes" userId="84685aee-113f-4e3f-9346-dc68217d032c" providerId="ADAL" clId="{0C2A48DF-5FF8-5FB3-B950-59AB4DE070A2}" dt="2026-06-13T23:24:54.408" v="2" actId="1076"/>
        <pc:sldMkLst>
          <pc:docMk/>
          <pc:sldMk cId="0" sldId="260"/>
        </pc:sldMkLst>
        <pc:spChg chg="mod">
          <ac:chgData name="Attila Mézes" userId="84685aee-113f-4e3f-9346-dc68217d032c" providerId="ADAL" clId="{0C2A48DF-5FF8-5FB3-B950-59AB4DE070A2}" dt="2026-06-13T23:24:45.186" v="1" actId="14100"/>
          <ac:spMkLst>
            <pc:docMk/>
            <pc:sldMk cId="0" sldId="260"/>
            <ac:spMk id="11" creationId="{00000000-0000-0000-0000-000000000000}"/>
          </ac:spMkLst>
        </pc:spChg>
        <pc:graphicFrameChg chg="mod">
          <ac:chgData name="Attila Mézes" userId="84685aee-113f-4e3f-9346-dc68217d032c" providerId="ADAL" clId="{0C2A48DF-5FF8-5FB3-B950-59AB4DE070A2}" dt="2026-06-13T23:24:54.408" v="2" actId="1076"/>
          <ac:graphicFrameMkLst>
            <pc:docMk/>
            <pc:sldMk cId="0" sldId="260"/>
            <ac:graphicFrameMk id="15" creationId="{00000000-0000-0000-0000-000000000000}"/>
          </ac:graphicFrameMkLst>
        </pc:graphicFrameChg>
      </pc:sldChg>
      <pc:sldChg chg="ord">
        <pc:chgData name="Attila Mézes" userId="84685aee-113f-4e3f-9346-dc68217d032c" providerId="ADAL" clId="{0C2A48DF-5FF8-5FB3-B950-59AB4DE070A2}" dt="2026-06-13T23:24:30.359" v="0" actId="20578"/>
        <pc:sldMkLst>
          <pc:docMk/>
          <pc:sldMk cId="0" sldId="26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Nettó revenue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2024-01</c:v>
                </c:pt>
                <c:pt idx="1">
                  <c:v>2024-02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1484.39</c:v>
                </c:pt>
                <c:pt idx="1">
                  <c:v>652.45000000000005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3A-D44D-B9BE-FE308CB10F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Napi átlag ×10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2024-01</c:v>
                </c:pt>
                <c:pt idx="1">
                  <c:v>2024-02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549.79999999999995</c:v>
                </c:pt>
                <c:pt idx="1">
                  <c:v>343.4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3A-D44D-B9BE-FE308CB10F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Nettó revenue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8FF-3946-B67F-594DD9032DC8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FF-3946-B67F-594DD9032DC8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8FF-3946-B67F-594DD9032DC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web</c:v>
                </c:pt>
                <c:pt idx="1">
                  <c:v>partner</c:v>
                </c:pt>
                <c:pt idx="2">
                  <c:v>marketplace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949.15</c:v>
                </c:pt>
                <c:pt idx="1">
                  <c:v>697.64</c:v>
                </c:pt>
                <c:pt idx="2">
                  <c:v>490.05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FF-3946-B67F-594DD9032D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690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43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ISSUE REPORT — AZONNALI INTÉZKEDÉS SZÜKSÉGES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februári termékportfólió-váltás</a:t>
            </a:r>
            <a:endParaRPr lang="en-US" sz="3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HUF 831k árbevétel-kiesést okozott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Operatív probléma valószínűsíthető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Elemzési időszak: 2024-01-05 — 2024-02-19  |  webshop.db  |  50 rendelés, 45 ügyfél  |  Claude + DBeaver + SQLite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Főbb mutatók — 2024 Q1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011680" cy="6400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-56%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84048" y="1984248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Árbevétel visszaesés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450592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3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1 484 → Feb 652 HUF 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1887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10"/>
          <p:cNvSpPr/>
          <p:nvPr/>
        </p:nvSpPr>
        <p:spPr>
          <a:xfrm>
            <a:off x="2450592" y="1188720"/>
            <a:ext cx="2011680" cy="6400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1"/>
          <p:cNvSpPr/>
          <p:nvPr/>
        </p:nvSpPr>
        <p:spPr>
          <a:xfrm>
            <a:off x="2587752" y="13533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-38%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60320" y="1984248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Napi átlag csökkenés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450592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3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Időszak hosszával korrigálva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1887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7" name="Shape 15"/>
          <p:cNvSpPr/>
          <p:nvPr/>
        </p:nvSpPr>
        <p:spPr>
          <a:xfrm>
            <a:off x="4626864" y="1188720"/>
            <a:ext cx="2011680" cy="6400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8" name="Text 16"/>
          <p:cNvSpPr/>
          <p:nvPr/>
        </p:nvSpPr>
        <p:spPr>
          <a:xfrm>
            <a:off x="4764024" y="13533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db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736592" y="1984248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Eltűnt termék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36592" y="2450592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3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Januárban aktív, feb. 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1887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2" name="Shape 20"/>
          <p:cNvSpPr/>
          <p:nvPr/>
        </p:nvSpPr>
        <p:spPr>
          <a:xfrm>
            <a:off x="6803136" y="1188720"/>
            <a:ext cx="2011680" cy="6400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1"/>
          <p:cNvSpPr/>
          <p:nvPr/>
        </p:nvSpPr>
        <p:spPr>
          <a:xfrm>
            <a:off x="6940296" y="13533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7.9%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912864" y="1984248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veszteség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12864" y="2450592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3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HUF 169.78k, 3/4 visszáru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154680"/>
            <a:ext cx="859536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7" name="Shape 25"/>
          <p:cNvSpPr/>
          <p:nvPr/>
        </p:nvSpPr>
        <p:spPr>
          <a:xfrm>
            <a:off x="274320" y="3154680"/>
            <a:ext cx="64008" cy="1737360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8" name="Text 26"/>
          <p:cNvSpPr/>
          <p:nvPr/>
        </p:nvSpPr>
        <p:spPr>
          <a:xfrm>
            <a:off x="457200" y="3227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43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ÁRBEVÉTELKIESÉS FEBRUÁRBAN — HUF 831k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538728"/>
            <a:ext cx="8321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februári árbevétel HUF 831k-val csökkent 1 484-ről 652-re januárhoz képest. A napi átlagbevétel 38%-kal alacsonyabb a januári szintnél. Minden channel és termékkategória érintett — operatív okokat valószínűsítünk.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termékportfólió változás a legjelentősebb ok: 26 db januárban aktív termék nem generált semmilyen árbevételt februárban.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HAVI TREND — KRITIKUS MEGÁLLAPÍTÁS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Februárban 26 db termék tűnt el a portfólióból — helyettük nem jelent meg új bevételi forrás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Napi átlag visszaesés: -38% (időszak hosszával korrigálva)  |  Érintett: minden channel, minden category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298448"/>
          <a:ext cx="49377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394960" y="1298448"/>
            <a:ext cx="347472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9" name="Text 6"/>
          <p:cNvSpPr/>
          <p:nvPr/>
        </p:nvSpPr>
        <p:spPr>
          <a:xfrm>
            <a:off x="548640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Havi összesítő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572768"/>
          <a:ext cx="3657600" cy="111861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Hónap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Akt. napok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Nettó rev.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Napi átlag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1 484.39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54.98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652.45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34.34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Variance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-831.94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-20.64 (-38%)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394960" y="2697480"/>
            <a:ext cx="347472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2" name="Text 8"/>
          <p:cNvSpPr/>
          <p:nvPr/>
        </p:nvSpPr>
        <p:spPr>
          <a:xfrm>
            <a:off x="548640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szintű variance — mindhárom érintett</a:t>
            </a:r>
            <a:endParaRPr lang="en-US" sz="9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2971800"/>
          <a:ext cx="329184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Variance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Electronics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575.29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171.33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-403.96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Clothing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503.95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280.24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-223.71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 &amp; Garden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405.15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200.88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-204.27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274320" y="3703320"/>
            <a:ext cx="493776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5" name="Shape 10"/>
          <p:cNvSpPr/>
          <p:nvPr/>
        </p:nvSpPr>
        <p:spPr>
          <a:xfrm>
            <a:off x="274320" y="3703320"/>
            <a:ext cx="64008" cy="1234440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6" name="Text 11"/>
          <p:cNvSpPr/>
          <p:nvPr/>
        </p:nvSpPr>
        <p:spPr>
          <a:xfrm>
            <a:off x="457200" y="3749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E843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MIÉRT NAPI ÁTLAG ÉS NEM ABSZOLÚT SZÁM?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57200" y="40416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Február csak 19 napot fed le januárhoz képest (27 nap). Az abszolút -56% részben az időszak hosszából adódik. A napi átlag -38%-os visszaesése már nem magyarázható ezzel — valódi, strukturális visszaesés.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394960" y="3977640"/>
            <a:ext cx="347472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9" name="Text 14"/>
          <p:cNvSpPr/>
          <p:nvPr/>
        </p:nvSpPr>
        <p:spPr>
          <a:xfrm>
            <a:off x="553212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Korlátok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532120" y="4251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sor — módszer a fontos, nem a szám  |  2 hónap — szezonalitás nem zárható ki  |  Február csonka (–19. nap)  |  Pénznem nincs jelölve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ADATFORRÁS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 elemzés két táblán alapul: 50 rendelés, 45 ügyfél — LEFT JOIN-nal összekapcsolva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Adatbázis: webshop.db (SQLite)  |  Eszköz: DBeaver Community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859536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tábla — szerkezet (13 oszlop)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45920"/>
          <a:ext cx="7132320" cy="960120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26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order_id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cust_id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channel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qty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returned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dq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C001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2024-01-05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Electronics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Mouse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25.99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credit_card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46.78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C002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2024-01-06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mktplace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 &amp; Garden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Desk Lamp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45.00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paypal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45.00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250545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Oszlopok: order_id · customer_id · order_date · channel · category · product_name · quantity · unit_price · discount · is_returned · payment_method · revenue · dq_flag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74320" y="2724912"/>
            <a:ext cx="512064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2" name="Text 9"/>
          <p:cNvSpPr/>
          <p:nvPr/>
        </p:nvSpPr>
        <p:spPr>
          <a:xfrm>
            <a:off x="365760" y="2724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tábla — szerkezet (5 oszlop)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99232"/>
          <a:ext cx="5120640" cy="137160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customer_id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customer_name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city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signup_date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segment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C001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Kovács Anna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Budapest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2023-03-15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returning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C002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Nagy Péter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Debrecen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2023-05-20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returning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C003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Szabó Kata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Szeged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2023-07-01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returning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C004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Tóth László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Budapest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2023-08-10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C005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Varga Eszter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Pécs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2023-09-22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577840" y="2724912"/>
            <a:ext cx="3291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5" name="Shape 11"/>
          <p:cNvSpPr/>
          <p:nvPr/>
        </p:nvSpPr>
        <p:spPr>
          <a:xfrm>
            <a:off x="5577840" y="2724912"/>
            <a:ext cx="64008" cy="2240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6" name="Text 12"/>
          <p:cNvSpPr/>
          <p:nvPr/>
        </p:nvSpPr>
        <p:spPr>
          <a:xfrm>
            <a:off x="5715000" y="2788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DÖNTÉS: LEFT JOIN</a:t>
            </a:r>
            <a:endParaRPr lang="en-US" sz="1000" dirty="0"/>
          </a:p>
        </p:txBody>
      </p:sp>
      <p:graphicFrame>
        <p:nvGraphicFramePr>
          <p:cNvPr id="1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3090672"/>
          <a:ext cx="3108960" cy="10363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Teszt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Eredmény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Következtetés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 COUNT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Kiindulópont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LEFT JOIN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Nincs sorvesztés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INNER JOIN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 2 orphan kiesik!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5669280" y="404164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 orphan sorok revenue-ja az árbevétel része — az INNER JOIN 2 rendelés bevételét veszítette volna el észrevétlenül. A szegmens NULL értékét COALESCE(segment, 'UNKNOWN') kezeli.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ADATMINŐSÉG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tudatos döntés született az elemzés előtt — ezek befolyásolják az összes KPI-t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képlet: quantity × unit_price × (1 − discount)  |  Alap KPI: nettó revenue (returned kizárva)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937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Adatminőségi ellenőrzések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8288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dq_flag: 48 NULL (rendben), 1 missing_customer, 1 orphan — elemzésben marad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466344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223113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képlet: csak kerekítési eltérés (0.01), az oszlop megbízható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578608"/>
            <a:ext cx="466344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411480" y="26151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26334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Signup vs order dátum: nincs rendelés regisztráció előtt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980944"/>
            <a:ext cx="466344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8" name="Text 16"/>
          <p:cNvSpPr/>
          <p:nvPr/>
        </p:nvSpPr>
        <p:spPr>
          <a:xfrm>
            <a:off x="411480" y="3017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30358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is_returned: 6 visszaküldött — nettóból kizárva, de bruttóban benne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383280"/>
            <a:ext cx="4663440" cy="0"/>
          </a:xfrm>
          <a:prstGeom prst="line">
            <a:avLst/>
          </a:prstGeom>
          <a:noFill/>
          <a:ln w="635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Text 19"/>
          <p:cNvSpPr/>
          <p:nvPr/>
        </p:nvSpPr>
        <p:spPr>
          <a:xfrm>
            <a:off x="411480" y="34198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orphan sor (1015 C999, 1045 NULL) — UNKNOWN szegmensként kezelve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4960" y="1371600"/>
            <a:ext cx="34747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4" name="Text 22"/>
          <p:cNvSpPr/>
          <p:nvPr/>
        </p:nvSpPr>
        <p:spPr>
          <a:xfrm>
            <a:off x="5532120" y="1444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definíciók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737360"/>
          <a:ext cx="3246120" cy="171907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KPI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Számítás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Nettó revenue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SUM(revenue) WHERE is_returned = 'no'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AOV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AVG(revenue) WHERE is_returned = 'no'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 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returned_db / összes_db ×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Súlyozott átlagár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netto_revenue / teljesult_qty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Átlag discount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AVG(discount) — minden sorra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394960" y="4114800"/>
            <a:ext cx="347472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7" name="Shape 24"/>
          <p:cNvSpPr/>
          <p:nvPr/>
        </p:nvSpPr>
        <p:spPr>
          <a:xfrm>
            <a:off x="5394960" y="4114800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8" name="Text 25"/>
          <p:cNvSpPr/>
          <p:nvPr/>
        </p:nvSpPr>
        <p:spPr>
          <a:xfrm>
            <a:off x="5532120" y="4160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Bruttó: 2 507.43  |  Visszáru: −330.77  |  Nettó: 2 136.84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532120" y="44622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Döntés: nettó revenue az alap KPI — a visszáru nem realizált bevétel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4114800"/>
            <a:ext cx="4937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133088"/>
          <a:ext cx="4800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Státusz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Rendelések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Teljesített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2 136.84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Visszaküldött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− 330.77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Bruttó összesen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2 507.43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ELEMZÉS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marketplace return rate 3× magasabb a web channel-nél — a Clothing kategória az elsődleges ok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Nettó revenue alapján: web vezet, partner AOV a legmagasabb, marketplace legsúlyosabb visszáruzással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298448"/>
          <a:ext cx="49377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394960" y="1298448"/>
            <a:ext cx="347472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9" name="Text 6"/>
          <p:cNvSpPr/>
          <p:nvPr/>
        </p:nvSpPr>
        <p:spPr>
          <a:xfrm>
            <a:off x="548640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teljesítmény összehasonlítás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572768"/>
          <a:ext cx="3474720" cy="1118616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Channel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 %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Nettó rev.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AOV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4.3%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949.15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43.14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7.7%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697.64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58.14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marketplace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28.6%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490.05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394960" y="2697480"/>
            <a:ext cx="3474720" cy="237669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8"/>
          <p:cNvSpPr/>
          <p:nvPr/>
        </p:nvSpPr>
        <p:spPr>
          <a:xfrm>
            <a:off x="5394960" y="2697480"/>
            <a:ext cx="64008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9"/>
          <p:cNvSpPr/>
          <p:nvPr/>
        </p:nvSpPr>
        <p:spPr>
          <a:xfrm>
            <a:off x="5532120" y="27614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MARKETPLACE-CLOTHING ANOMÁLIA — 7.9% REVENUE VESZTESÉG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532120" y="30632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marketplace-Clothing rendelésből 3 visszaküldött.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Elveszett revenue: HUF 169.78k — a teljes nettó revenue 7.9%-a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egyetlen channel-category kombinációból.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14495"/>
              </p:ext>
            </p:extLst>
          </p:nvPr>
        </p:nvGraphicFramePr>
        <p:xfrm>
          <a:off x="5655564" y="3885150"/>
          <a:ext cx="3017520" cy="11887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Termék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Sneakers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80.75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Baseball Cap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47.03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Beanie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Gloves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274320" y="3858768"/>
            <a:ext cx="493776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2"/>
          <p:cNvSpPr/>
          <p:nvPr/>
        </p:nvSpPr>
        <p:spPr>
          <a:xfrm>
            <a:off x="411480" y="391363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Akció: Területi vezető bevonása. Az ok ismeretlen — rendeléskori hiba, méretezési vagy minőségi probléma valószínűsíthető.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43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AZONNALI INTÉZKEDÉSI TERV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lépés a döntéshozatalhoz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" cy="411480"/>
          </a:xfrm>
          <a:prstGeom prst="ellipse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3624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Értékesítési és beszerzési osztály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70992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 okozta a 26 db termék eltűnését februárban? Készlethiány, szerződés megszűnés, vagy rendszerhiba?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11480" cy="411480"/>
          </a:xfrm>
          <a:prstGeom prst="ellipse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85232" y="13624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Marketplace-Clothing kivizsgálása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85232" y="170992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rendelésből 3 visszaküldött, HUF 169.78k elveszett revenue (teljes nettó revenue 7.9%-a). Területi vezető bevonása szükséges.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1480" cy="411480"/>
          </a:xfrm>
          <a:prstGeom prst="ellipse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2962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értesítés folyamata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331012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Miért nem kapott a vezetőség hamarabb jelzést ekkora visszaesésről? Riasztási küszöb és monitoring bevezetése javasolt.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11480" cy="411480"/>
          </a:xfrm>
          <a:prstGeom prst="ellipse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8" name="Text 16"/>
          <p:cNvSpPr/>
          <p:nvPr/>
        </p:nvSpPr>
        <p:spPr>
          <a:xfrm>
            <a:off x="47548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85232" y="2962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Február teljes hónap adata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85232" y="331012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 elemzés február 19-ig tart — a teljes hónap képe szükséges a megalapozott döntéshozatalhoz.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8412480" cy="0"/>
          </a:xfrm>
          <a:prstGeom prst="line">
            <a:avLst/>
          </a:prstGeom>
          <a:noFill/>
          <a:ln w="9525">
            <a:solidFill>
              <a:srgbClr val="2D3A5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Webshop EDA Report  |  AI-asszisztált elemzés  |  Claude + DBeaver + SQLite  |  2024-06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DD5500C19A114D940E0BB324C5C8BD" ma:contentTypeVersion="12" ma:contentTypeDescription="Create a new document." ma:contentTypeScope="" ma:versionID="0a05b264c58377e16af3d03d11cd2bbd">
  <xsd:schema xmlns:xsd="http://www.w3.org/2001/XMLSchema" xmlns:xs="http://www.w3.org/2001/XMLSchema" xmlns:p="http://schemas.microsoft.com/office/2006/metadata/properties" xmlns:ns2="68264a6a-d46a-4ef4-aaa8-fcab470ede9c" xmlns:ns3="193af0c3-e9c2-4505-9573-caded793d548" targetNamespace="http://schemas.microsoft.com/office/2006/metadata/properties" ma:root="true" ma:fieldsID="9b910f66b768346d9ae1727c1c0b01e9" ns2:_="" ns3:_="">
    <xsd:import namespace="68264a6a-d46a-4ef4-aaa8-fcab470ede9c"/>
    <xsd:import namespace="193af0c3-e9c2-4505-9573-caded793d5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64a6a-d46a-4ef4-aaa8-fcab470ede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49c9b505-3258-4179-b67f-2060441621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3af0c3-e9c2-4505-9573-caded793d54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0b79a69f-b4c4-4cbd-93db-3638dc8aa361}" ma:internalName="TaxCatchAll" ma:showField="CatchAllData" ma:web="193af0c3-e9c2-4505-9573-caded793d5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93af0c3-e9c2-4505-9573-caded793d548" xsi:nil="true"/>
    <lcf76f155ced4ddcb4097134ff3c332f xmlns="68264a6a-d46a-4ef4-aaa8-fcab470ede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5E6E508-5565-457C-97A7-319822D447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3C3FF6-21C1-4B38-8DBE-9578CFB7C9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264a6a-d46a-4ef4-aaa8-fcab470ede9c"/>
    <ds:schemaRef ds:uri="193af0c3-e9c2-4505-9573-caded793d5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66BCA0-C0C7-46AA-A7A5-E8F4B9798C94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193af0c3-e9c2-4505-9573-caded793d548"/>
    <ds:schemaRef ds:uri="68264a6a-d46a-4ef4-aaa8-fcab470ede9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1028</Words>
  <Application>Microsoft Macintosh PowerPoint</Application>
  <PresentationFormat>On-screen Show (16:9)</PresentationFormat>
  <Paragraphs>271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Webshop EDA — 2024 Q1</dc:title>
  <dc:subject>PptxGenJS Presentation</dc:subject>
  <dc:creator>AI-asszisztált elemzés</dc:creator>
  <cp:lastModifiedBy>Attila Mezes</cp:lastModifiedBy>
  <cp:revision>1</cp:revision>
  <dcterms:created xsi:type="dcterms:W3CDTF">2026-06-13T23:11:50Z</dcterms:created>
  <dcterms:modified xsi:type="dcterms:W3CDTF">2026-06-13T23:25:00Z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0x0101008FDD5500C19A114D940E0BB324C5C8BD</vt:lpwstr>
  </property>
  <property fmtid="{D5CDD505-2E9C-101B-9397-08002B2CF9AE}" pid="3" name="MediaServiceImageTags">
    <vt:lpwstr/>
  </property>
</Properties>
</file>